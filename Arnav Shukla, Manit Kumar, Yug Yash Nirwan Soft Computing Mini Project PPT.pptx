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37"/>
  </p:normalViewPr>
  <p:slideViewPr>
    <p:cSldViewPr snapToGrid="0" snapToObjects="1">
      <p:cViewPr varScale="1">
        <p:scale>
          <a:sx n="149" d="100"/>
          <a:sy n="149" d="100"/>
        </p:scale>
        <p:origin x="3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07522-077B-CA4E-83C9-8C6B1230F03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D0B41-89F4-6244-BC25-41985F86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D0B41-89F4-6244-BC25-41985F860D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4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7245" y="2877611"/>
            <a:ext cx="3689502" cy="2858296"/>
          </a:xfrm>
        </p:spPr>
        <p:txBody>
          <a:bodyPr>
            <a:noAutofit/>
          </a:bodyPr>
          <a:lstStyle/>
          <a:p>
            <a:r>
              <a:rPr sz="1100" dirty="0"/>
              <a:t>Submitted by:</a:t>
            </a:r>
          </a:p>
          <a:p>
            <a:r>
              <a:rPr sz="1100" dirty="0"/>
              <a:t>Student Names &amp; Enrollment IDs</a:t>
            </a:r>
            <a:endParaRPr lang="en-US" sz="1100" dirty="0"/>
          </a:p>
          <a:p>
            <a:r>
              <a:rPr lang="en-IN" sz="1100" dirty="0"/>
              <a:t>Arnav Shukla           E23CSEU0889</a:t>
            </a:r>
          </a:p>
          <a:p>
            <a:r>
              <a:rPr lang="en-IN" sz="1100" dirty="0"/>
              <a:t>Manit Kumar          E23CSEU0898</a:t>
            </a:r>
          </a:p>
          <a:p>
            <a:r>
              <a:rPr lang="en-IN" sz="1100" dirty="0"/>
              <a:t>Yug Yash Nirwan   E23CSEU0904</a:t>
            </a:r>
          </a:p>
          <a:p>
            <a:endParaRPr sz="1100" dirty="0"/>
          </a:p>
          <a:p>
            <a:r>
              <a:rPr sz="1100" dirty="0"/>
              <a:t>Supervised by:</a:t>
            </a:r>
          </a:p>
          <a:p>
            <a:r>
              <a:rPr lang="en-IN" sz="1100" dirty="0"/>
              <a:t>Priyanka Gupta (Assistant Professor)</a:t>
            </a:r>
          </a:p>
          <a:p>
            <a:endParaRPr sz="1100" dirty="0"/>
          </a:p>
          <a:p>
            <a:r>
              <a:rPr lang="en-IN" sz="1100" dirty="0"/>
              <a:t>CSET326 - Soft Computing</a:t>
            </a:r>
          </a:p>
          <a:p>
            <a:r>
              <a:rPr lang="en-IN" sz="1100" dirty="0"/>
              <a:t>School of Computer Science Engineering and Technology</a:t>
            </a:r>
          </a:p>
          <a:p>
            <a:r>
              <a:rPr lang="en-IN" sz="1100" dirty="0"/>
              <a:t>Bennett University</a:t>
            </a:r>
          </a:p>
          <a:p>
            <a:r>
              <a:rPr lang="en-IN" sz="1100" dirty="0"/>
              <a:t>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08F8D3F-F683-F49C-2EE3-91E1936E1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09" y="803044"/>
            <a:ext cx="8791575" cy="2276586"/>
          </a:xfrm>
        </p:spPr>
        <p:txBody>
          <a:bodyPr>
            <a:normAutofit/>
          </a:bodyPr>
          <a:lstStyle/>
          <a:p>
            <a:r>
              <a:rPr lang="en-US" sz="3000" b="1" dirty="0"/>
              <a:t>Synapse Drive — ADAS Fuzzy Intelligence System</a:t>
            </a:r>
            <a:br>
              <a:rPr lang="en-US" sz="3000" dirty="0"/>
            </a:br>
            <a:r>
              <a:rPr lang="en-US" sz="2600" dirty="0"/>
              <a:t>A Hybrid Fuzzy-LSTM Approach for Real-Time </a:t>
            </a:r>
            <a:br>
              <a:rPr lang="en-US" sz="2600" dirty="0"/>
            </a:br>
            <a:r>
              <a:rPr lang="en-US" sz="2600" dirty="0"/>
              <a:t>Collision Risk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39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Problem:</a:t>
            </a:r>
          </a:p>
          <a:p>
            <a:pPr marL="0" indent="0">
              <a:buNone/>
            </a:pPr>
            <a:r>
              <a:rPr lang="en-US" sz="1500" dirty="0"/>
              <a:t>Autonomous driving systems need to handle uncertain sensor data </a:t>
            </a:r>
          </a:p>
          <a:p>
            <a:pPr marL="0" indent="0">
              <a:buNone/>
            </a:pPr>
            <a:r>
              <a:rPr lang="en-US" sz="1500" dirty="0"/>
              <a:t>while remaining interpretable and responsive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Our Approach:</a:t>
            </a:r>
          </a:p>
          <a:p>
            <a:pPr marL="0" indent="0">
              <a:buNone/>
            </a:pPr>
            <a:r>
              <a:rPr lang="en-US" sz="1500" dirty="0"/>
              <a:t>Hybrid model combining two soft computing techniques:</a:t>
            </a:r>
          </a:p>
          <a:p>
            <a:pPr marL="0" indent="0">
              <a:buNone/>
            </a:pPr>
            <a:r>
              <a:rPr lang="en-US" sz="1500" dirty="0"/>
              <a:t>• Mamdani Fuzzy Inference System — rule-based, interpretable</a:t>
            </a:r>
          </a:p>
          <a:p>
            <a:pPr marL="0" indent="0">
              <a:buNone/>
            </a:pPr>
            <a:r>
              <a:rPr lang="en-US" sz="1500" dirty="0"/>
              <a:t>• LSTM Neural Network — learns temporal risk patterns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Key Innovation:</a:t>
            </a:r>
          </a:p>
          <a:p>
            <a:pPr marL="0" indent="0">
              <a:buNone/>
            </a:pPr>
            <a:r>
              <a:rPr lang="en-US" sz="1500" dirty="0"/>
              <a:t>• Adaptive weighted fusion (distance-dependent)</a:t>
            </a:r>
          </a:p>
          <a:p>
            <a:pPr marL="0" indent="0">
              <a:buNone/>
            </a:pPr>
            <a:r>
              <a:rPr lang="en-US" sz="1500" dirty="0"/>
              <a:t>• TTC safety override for critical situations</a:t>
            </a:r>
          </a:p>
          <a:p>
            <a:pPr marL="0" indent="0">
              <a:buNone/>
            </a:pPr>
            <a:r>
              <a:rPr lang="en-US" sz="1500" dirty="0"/>
              <a:t>• Physics-based fallback for edge cases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Tools: Python, scikit-fuzzy, TensorFlow </a:t>
            </a:r>
            <a:r>
              <a:rPr lang="en-US" sz="1500" dirty="0" err="1"/>
              <a:t>Keras</a:t>
            </a:r>
            <a:endParaRPr lang="en-US" sz="15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443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Introduction</a:t>
            </a:r>
            <a:r>
              <a:rPr lang="en-US" dirty="0"/>
              <a:t> - Background &amp; Problem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500" dirty="0"/>
              <a:t>Background:</a:t>
            </a:r>
          </a:p>
          <a:p>
            <a:pPr marL="0" indent="0">
              <a:buNone/>
            </a:pPr>
            <a:r>
              <a:rPr lang="en-IN" sz="1500" dirty="0"/>
              <a:t>  • ADAS systems reduce human error — the #1 cause of road accidents</a:t>
            </a:r>
          </a:p>
          <a:p>
            <a:pPr marL="0" indent="0">
              <a:buNone/>
            </a:pPr>
            <a:r>
              <a:rPr lang="en-IN" sz="1500" dirty="0"/>
              <a:t>  • Modern vehicles use sensor data (distance, speed) for collision avoidance</a:t>
            </a:r>
          </a:p>
          <a:p>
            <a:pPr marL="0" indent="0">
              <a:buNone/>
            </a:pPr>
            <a:r>
              <a:rPr lang="en-IN" sz="1500" dirty="0"/>
              <a:t>  • Soft computing handles the uncertainty in real-world sensor readings</a:t>
            </a:r>
          </a:p>
          <a:p>
            <a:pPr mar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500" dirty="0"/>
              <a:t>Problem:</a:t>
            </a:r>
          </a:p>
          <a:p>
            <a:pPr marL="0" indent="0">
              <a:buNone/>
            </a:pPr>
            <a:r>
              <a:rPr lang="en-IN" sz="1500" dirty="0"/>
              <a:t>  • Fuzzy-only systems lack adaptability to temporal patterns</a:t>
            </a:r>
          </a:p>
          <a:p>
            <a:pPr marL="0" indent="0">
              <a:buNone/>
            </a:pPr>
            <a:r>
              <a:rPr lang="en-IN" sz="1500" dirty="0"/>
              <a:t>  • Neural-network-only systems lack interpretability</a:t>
            </a:r>
          </a:p>
          <a:p>
            <a:pPr marL="0" indent="0">
              <a:buNone/>
            </a:pPr>
            <a:r>
              <a:rPr lang="en-IN" sz="1500" dirty="0"/>
              <a:t>  • Need: A system that is BOTH interpretable AND adaptive</a:t>
            </a:r>
          </a:p>
          <a:p>
            <a:pPr mar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500" dirty="0"/>
              <a:t>Our Solution:</a:t>
            </a:r>
          </a:p>
          <a:p>
            <a:pPr marL="0" indent="0">
              <a:buNone/>
            </a:pPr>
            <a:r>
              <a:rPr lang="en-IN" sz="1500" dirty="0"/>
              <a:t>  • Hybrid architecture combining fuzzy rules + LSTM sequence learning</a:t>
            </a:r>
          </a:p>
          <a:p>
            <a:pPr marL="0" indent="0">
              <a:buNone/>
            </a:pPr>
            <a:r>
              <a:rPr lang="en-IN" sz="1500" dirty="0"/>
              <a:t>  • Inputs: Distance (0–100 m), Relative Speed (0–100 km/h)</a:t>
            </a:r>
          </a:p>
          <a:p>
            <a:pPr marL="0" indent="0">
              <a:buNone/>
            </a:pPr>
            <a:r>
              <a:rPr lang="en-IN" sz="1500" dirty="0"/>
              <a:t>  • Outputs: Brake Force (%), Collision Risk (%), Driver Alert (%)</a:t>
            </a:r>
            <a:endParaRPr sz="15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8133"/>
            <a:ext cx="8229600" cy="41372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1. Design a Mamdani fuzzy inference system with 9 expert-driven rules</a:t>
            </a:r>
          </a:p>
          <a:p>
            <a:pPr marL="0" indent="0">
              <a:buNone/>
            </a:pPr>
            <a:r>
              <a:rPr lang="en-IN" sz="1800" dirty="0"/>
              <a:t>   using trapezoidal + triangular membership functions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2. Train a 2-layer LSTM neural network for sequence-based collision</a:t>
            </a:r>
          </a:p>
          <a:p>
            <a:pPr marL="0" indent="0">
              <a:buNone/>
            </a:pPr>
            <a:r>
              <a:rPr lang="en-IN" sz="1800" dirty="0"/>
              <a:t>   risk prediction using synthetic driving data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3. Integrate both via adaptive weighted hybrid fusion with</a:t>
            </a:r>
          </a:p>
          <a:p>
            <a:pPr marL="0" indent="0">
              <a:buNone/>
            </a:pPr>
            <a:r>
              <a:rPr lang="en-IN" sz="1800" dirty="0"/>
              <a:t>   TTC-based safety override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4. Evaluate across 9 scenarios including 3 edge cases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5. Provide an interactive web dashboard for real-time testing</a:t>
            </a:r>
            <a:endParaRPr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44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Literature Review — Key Foundations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6125" y="1600200"/>
            <a:ext cx="513175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Fuzzy Logic (Zadeh 1965, Mamdani &amp; </a:t>
            </a:r>
            <a:r>
              <a:rPr lang="en-IN" sz="1600" dirty="0" err="1"/>
              <a:t>Assilian</a:t>
            </a:r>
            <a:r>
              <a:rPr lang="en-IN" sz="1600" dirty="0"/>
              <a:t> 1975):</a:t>
            </a:r>
          </a:p>
          <a:p>
            <a:pPr marL="0" indent="0">
              <a:buNone/>
            </a:pPr>
            <a:r>
              <a:rPr lang="en-IN" sz="1600" dirty="0"/>
              <a:t>  • Linguistic variables handle sensor uncertainty</a:t>
            </a:r>
          </a:p>
          <a:p>
            <a:pPr marL="0" indent="0">
              <a:buNone/>
            </a:pPr>
            <a:r>
              <a:rPr lang="en-IN" sz="1600" dirty="0"/>
              <a:t>  • IF-THEN rules are human-readable and auditable</a:t>
            </a:r>
          </a:p>
          <a:p>
            <a:pPr marL="0" indent="0">
              <a:buNone/>
            </a:pPr>
            <a:r>
              <a:rPr lang="en-IN" sz="1600" dirty="0"/>
              <a:t>  • Widely used in automotive control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LSTM Networks (Hochreiter &amp; </a:t>
            </a:r>
            <a:r>
              <a:rPr lang="en-IN" sz="1600" dirty="0" err="1"/>
              <a:t>Schmidhuber</a:t>
            </a:r>
            <a:r>
              <a:rPr lang="en-IN" sz="1600" dirty="0"/>
              <a:t> 1997):</a:t>
            </a:r>
          </a:p>
          <a:p>
            <a:pPr marL="0" indent="0">
              <a:buNone/>
            </a:pPr>
            <a:r>
              <a:rPr lang="en-IN" sz="1600" dirty="0"/>
              <a:t>  • Memory cells capture long/short-term temporal patterns</a:t>
            </a:r>
          </a:p>
          <a:p>
            <a:pPr marL="0" indent="0">
              <a:buNone/>
            </a:pPr>
            <a:r>
              <a:rPr lang="en-IN" sz="1600" dirty="0"/>
              <a:t>  • Gating mechanisms (input, forget, output gates)</a:t>
            </a:r>
          </a:p>
          <a:p>
            <a:pPr marL="0" indent="0">
              <a:buNone/>
            </a:pPr>
            <a:r>
              <a:rPr lang="en-IN" sz="1600" dirty="0"/>
              <a:t>  • Ideal for sequential driving pattern analysis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Hybrid Rationale:</a:t>
            </a:r>
          </a:p>
          <a:p>
            <a:pPr marL="0" indent="0">
              <a:buNone/>
            </a:pPr>
            <a:r>
              <a:rPr lang="en-IN" sz="1600" dirty="0"/>
              <a:t>  • Fuzzy → interpretability + expert knowledge</a:t>
            </a:r>
          </a:p>
          <a:p>
            <a:pPr marL="0" indent="0">
              <a:buNone/>
            </a:pPr>
            <a:r>
              <a:rPr lang="en-IN" sz="1600" dirty="0"/>
              <a:t>  • LSTM → adaptability + temporal trend detection</a:t>
            </a:r>
          </a:p>
          <a:p>
            <a:pPr marL="0" indent="0">
              <a:buNone/>
            </a:pPr>
            <a:r>
              <a:rPr lang="en-IN" sz="1600" dirty="0"/>
              <a:t>  • Weighted fusion → best of both worlds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1322"/>
            <a:ext cx="8229600" cy="1143000"/>
          </a:xfrm>
        </p:spPr>
        <p:txBody>
          <a:bodyPr/>
          <a:lstStyle/>
          <a:p>
            <a:r>
              <a:rPr lang="en-IN" dirty="0"/>
              <a:t>Literature Review — Related Work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9544" y="1691055"/>
            <a:ext cx="5744911" cy="3954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 Approach         Strength         Weakness</a:t>
            </a:r>
          </a:p>
          <a:p>
            <a:pPr marL="0" indent="0">
              <a:buNone/>
            </a:pPr>
            <a:r>
              <a:rPr lang="en-IN" sz="1800" dirty="0"/>
              <a:t>  ─────────        ────────         ────────</a:t>
            </a:r>
          </a:p>
          <a:p>
            <a:pPr marL="0" indent="0">
              <a:buNone/>
            </a:pPr>
            <a:r>
              <a:rPr lang="en-IN" sz="1800" dirty="0"/>
              <a:t>  Fuzzy Only       Interpretable    Not adaptive to sequences</a:t>
            </a:r>
          </a:p>
          <a:p>
            <a:pPr marL="0" indent="0">
              <a:buNone/>
            </a:pPr>
            <a:r>
              <a:rPr lang="en-IN" sz="1800" dirty="0"/>
              <a:t>  LSTM Only        Adaptive         Black-box, hard to audit</a:t>
            </a:r>
          </a:p>
          <a:p>
            <a:pPr marL="0" indent="0">
              <a:buNone/>
            </a:pPr>
            <a:r>
              <a:rPr lang="en-IN" sz="1800" dirty="0"/>
              <a:t>  Our Hybrid       Both             Synthetic data limitation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Key References:</a:t>
            </a:r>
          </a:p>
          <a:p>
            <a:pPr marL="0" indent="0">
              <a:buNone/>
            </a:pPr>
            <a:r>
              <a:rPr lang="en-IN" sz="1800" dirty="0"/>
              <a:t>  [1] Zadeh (1965) — Fuzzy sets theory</a:t>
            </a:r>
          </a:p>
          <a:p>
            <a:pPr marL="0" indent="0">
              <a:buNone/>
            </a:pPr>
            <a:r>
              <a:rPr lang="en-IN" sz="1800" dirty="0"/>
              <a:t>  [2] Mamdani &amp; </a:t>
            </a:r>
            <a:r>
              <a:rPr lang="en-IN" sz="1800" dirty="0" err="1"/>
              <a:t>Assilian</a:t>
            </a:r>
            <a:r>
              <a:rPr lang="en-IN" sz="1800" dirty="0"/>
              <a:t> (1975) — Linguistic synthesis</a:t>
            </a:r>
          </a:p>
          <a:p>
            <a:pPr marL="0" indent="0">
              <a:buNone/>
            </a:pPr>
            <a:r>
              <a:rPr lang="en-IN" sz="1800" dirty="0"/>
              <a:t>  [3] Hochreiter &amp; </a:t>
            </a:r>
            <a:r>
              <a:rPr lang="en-IN" sz="1800" dirty="0" err="1"/>
              <a:t>Schmidhuber</a:t>
            </a:r>
            <a:r>
              <a:rPr lang="en-IN" sz="1800" dirty="0"/>
              <a:t> (1997) — LSTM architecture</a:t>
            </a:r>
          </a:p>
          <a:p>
            <a:pPr marL="0" indent="0">
              <a:buNone/>
            </a:pPr>
            <a:r>
              <a:rPr lang="en-IN" sz="1800" dirty="0"/>
              <a:t>  [4] Li et al. (2020) — DL-based vehicle risk assessment</a:t>
            </a:r>
            <a:endParaRPr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44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Methodology — System Architecture</a:t>
            </a:r>
            <a:endParaRPr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4698D1-8536-0839-FB57-523DA018D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990" y="1508443"/>
            <a:ext cx="4418019" cy="4020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443"/>
            <a:ext cx="8229600" cy="1143000"/>
          </a:xfrm>
        </p:spPr>
        <p:txBody>
          <a:bodyPr>
            <a:normAutofit/>
          </a:bodyPr>
          <a:lstStyle/>
          <a:p>
            <a:r>
              <a:rPr lang="en-IN" sz="3500" dirty="0"/>
              <a:t>Methodology - Membership Functions</a:t>
            </a:r>
            <a:endParaRPr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288" y="2115780"/>
            <a:ext cx="8229600" cy="32350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Design choice:</a:t>
            </a:r>
          </a:p>
          <a:p>
            <a:pPr marL="0" indent="0">
              <a:buNone/>
            </a:pPr>
            <a:r>
              <a:rPr lang="en-IN" sz="1200" dirty="0"/>
              <a:t>  • Boundary sets (Near, Far, Low, High) → Trapezoidal</a:t>
            </a:r>
          </a:p>
          <a:p>
            <a:pPr marL="0" indent="0">
              <a:buNone/>
            </a:pPr>
            <a:r>
              <a:rPr lang="en-IN" sz="1200" dirty="0"/>
              <a:t>    Flat top at edges prevents </a:t>
            </a:r>
            <a:r>
              <a:rPr lang="en-IN" sz="1200" dirty="0" err="1"/>
              <a:t>NaN</a:t>
            </a:r>
            <a:r>
              <a:rPr lang="en-IN" sz="1200" dirty="0"/>
              <a:t>/zero bugs</a:t>
            </a:r>
          </a:p>
          <a:p>
            <a:pPr marL="0" indent="0">
              <a:buNone/>
            </a:pPr>
            <a:r>
              <a:rPr lang="en-IN" sz="1200" dirty="0"/>
              <a:t>  • Interior sets (Medium) → Triangular</a:t>
            </a:r>
          </a:p>
          <a:p>
            <a:pPr marL="0" indent="0">
              <a:buNone/>
            </a:pPr>
            <a:r>
              <a:rPr lang="en-IN" sz="1200" dirty="0"/>
              <a:t>    Peaked response in mid-range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Example — Distance:</a:t>
            </a:r>
          </a:p>
          <a:p>
            <a:pPr marL="0" indent="0">
              <a:buNone/>
            </a:pPr>
            <a:r>
              <a:rPr lang="en-IN" sz="1200" dirty="0"/>
              <a:t>  Near:   </a:t>
            </a:r>
            <a:r>
              <a:rPr lang="en-IN" sz="1200" dirty="0" err="1"/>
              <a:t>trapmf</a:t>
            </a:r>
            <a:r>
              <a:rPr lang="en-IN" sz="1200" dirty="0"/>
              <a:t> [0, 0, 25, 45]   → </a:t>
            </a:r>
            <a:r>
              <a:rPr lang="el-GR" sz="1200" dirty="0"/>
              <a:t>μ=1 </a:t>
            </a:r>
            <a:r>
              <a:rPr lang="en-IN" sz="1200" dirty="0"/>
              <a:t>for 0–25m</a:t>
            </a:r>
          </a:p>
          <a:p>
            <a:pPr marL="0" indent="0">
              <a:buNone/>
            </a:pPr>
            <a:r>
              <a:rPr lang="en-IN" sz="1200" dirty="0"/>
              <a:t>  Medium: </a:t>
            </a:r>
            <a:r>
              <a:rPr lang="en-IN" sz="1200" dirty="0" err="1"/>
              <a:t>trimf</a:t>
            </a:r>
            <a:r>
              <a:rPr lang="en-IN" sz="1200" dirty="0"/>
              <a:t>  [20, 50, 80]     → peak at 50m</a:t>
            </a:r>
          </a:p>
          <a:p>
            <a:pPr marL="0" indent="0">
              <a:buNone/>
            </a:pPr>
            <a:r>
              <a:rPr lang="en-IN" sz="1200" dirty="0"/>
              <a:t>  Far:    </a:t>
            </a:r>
            <a:r>
              <a:rPr lang="en-IN" sz="1200" dirty="0" err="1"/>
              <a:t>trapmf</a:t>
            </a:r>
            <a:r>
              <a:rPr lang="en-IN" sz="1200" dirty="0"/>
              <a:t> [60, 80, 100, 100] → </a:t>
            </a:r>
            <a:r>
              <a:rPr lang="el-GR" sz="1200" dirty="0"/>
              <a:t>μ=1 </a:t>
            </a:r>
            <a:r>
              <a:rPr lang="en-IN" sz="1200" dirty="0"/>
              <a:t>for 80–100m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All 5 variables × 3 terms = 15 membership functions total</a:t>
            </a:r>
          </a:p>
          <a:p>
            <a:pPr marL="0" indent="0">
              <a:buNone/>
            </a:pPr>
            <a:endParaRPr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DCA125-5EF4-F6E7-37E8-4674A4713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080" y="1985951"/>
            <a:ext cx="4379720" cy="29460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7587"/>
            <a:ext cx="8229600" cy="1143000"/>
          </a:xfrm>
        </p:spPr>
        <p:txBody>
          <a:bodyPr/>
          <a:lstStyle/>
          <a:p>
            <a:r>
              <a:rPr lang="en-IN" dirty="0"/>
              <a:t>Methodology — Rule Base</a:t>
            </a:r>
            <a:endParaRPr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6451609-90D5-35CC-E769-CAD1709DB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883" y="1460587"/>
            <a:ext cx="5780234" cy="26827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FA7519-5A37-FC97-2A9C-69726FE29CFF}"/>
              </a:ext>
            </a:extLst>
          </p:cNvPr>
          <p:cNvSpPr txBox="1"/>
          <p:nvPr/>
        </p:nvSpPr>
        <p:spPr>
          <a:xfrm>
            <a:off x="2885352" y="4566416"/>
            <a:ext cx="3373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 rules = all 3×3 combinations covered</a:t>
            </a:r>
          </a:p>
          <a:p>
            <a:r>
              <a:rPr lang="en-US" sz="1600" dirty="0"/>
              <a:t>Defuzzification: Centroid method</a:t>
            </a:r>
          </a:p>
          <a:p>
            <a:r>
              <a:rPr lang="en-US" sz="1600" dirty="0"/>
              <a:t>Edge cases: Physics-based TTC fallback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r>
              <a:rPr lang="en-IN" dirty="0"/>
              <a:t>Methodology — LSTM Network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7239" y="1417320"/>
            <a:ext cx="3969521" cy="45262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Data Generation:</a:t>
            </a:r>
          </a:p>
          <a:p>
            <a:pPr marL="0" indent="0">
              <a:buNone/>
            </a:pPr>
            <a:r>
              <a:rPr lang="en-IN" sz="1400" dirty="0"/>
              <a:t>  • 3000 sequences × 10 timesteps × 3 features</a:t>
            </a:r>
          </a:p>
          <a:p>
            <a:pPr marL="0" indent="0">
              <a:buNone/>
            </a:pPr>
            <a:r>
              <a:rPr lang="en-IN" sz="1400" dirty="0"/>
              <a:t>  • Features: distance, speed, normalized TTC</a:t>
            </a:r>
          </a:p>
          <a:p>
            <a:pPr marL="0" indent="0">
              <a:buNone/>
            </a:pPr>
            <a:r>
              <a:rPr lang="en-IN" sz="1400" dirty="0"/>
              <a:t>  • TTC = distance ÷ (</a:t>
            </a:r>
            <a:r>
              <a:rPr lang="en-IN" sz="1400" dirty="0" err="1"/>
              <a:t>speed_m</a:t>
            </a:r>
            <a:r>
              <a:rPr lang="en-IN" sz="1400" dirty="0"/>
              <a:t>/s) — derived feature</a:t>
            </a:r>
          </a:p>
          <a:p>
            <a:pPr marL="0" indent="0">
              <a:buNone/>
            </a:pPr>
            <a:r>
              <a:rPr lang="en-IN" sz="1400" dirty="0"/>
              <a:t>  • 50% safe, 40% risky, 10% edge cases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Architecture:</a:t>
            </a:r>
          </a:p>
          <a:p>
            <a:pPr marL="0" indent="0">
              <a:buNone/>
            </a:pPr>
            <a:r>
              <a:rPr lang="en-IN" sz="1400" dirty="0"/>
              <a:t>  LSTM(64) → Dropout(0.25) → LSTM(32)</a:t>
            </a:r>
          </a:p>
          <a:p>
            <a:pPr marL="0" indent="0">
              <a:buNone/>
            </a:pPr>
            <a:r>
              <a:rPr lang="en-IN" sz="1400" dirty="0"/>
              <a:t>  → </a:t>
            </a:r>
            <a:r>
              <a:rPr lang="en-IN" sz="1400" dirty="0" err="1"/>
              <a:t>BatchNorm</a:t>
            </a:r>
            <a:r>
              <a:rPr lang="en-IN" sz="1400" dirty="0"/>
              <a:t> → Dropout(0.2)</a:t>
            </a:r>
          </a:p>
          <a:p>
            <a:pPr marL="0" indent="0">
              <a:buNone/>
            </a:pPr>
            <a:r>
              <a:rPr lang="en-IN" sz="1400" dirty="0"/>
              <a:t>  → Dense(16, </a:t>
            </a:r>
            <a:r>
              <a:rPr lang="en-IN" sz="1400" dirty="0" err="1"/>
              <a:t>ReLU</a:t>
            </a:r>
            <a:r>
              <a:rPr lang="en-IN" sz="1400" dirty="0"/>
              <a:t>) → Dense(1, Sigmoid)</a:t>
            </a:r>
          </a:p>
          <a:p>
            <a:pPr marL="0" indent="0">
              <a:buNone/>
            </a:pPr>
            <a:r>
              <a:rPr lang="en-IN" sz="1400" dirty="0"/>
              <a:t>  Total: 30,497 parameters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Training:</a:t>
            </a:r>
          </a:p>
          <a:p>
            <a:pPr marL="0" indent="0">
              <a:buNone/>
            </a:pPr>
            <a:r>
              <a:rPr lang="en-IN" sz="1400" dirty="0"/>
              <a:t>  • Adam (</a:t>
            </a:r>
            <a:r>
              <a:rPr lang="en-IN" sz="1400" dirty="0" err="1"/>
              <a:t>lr</a:t>
            </a:r>
            <a:r>
              <a:rPr lang="en-IN" sz="1400" dirty="0"/>
              <a:t>=0.001), Binary cross-entropy</a:t>
            </a:r>
          </a:p>
          <a:p>
            <a:pPr marL="0" indent="0">
              <a:buNone/>
            </a:pPr>
            <a:r>
              <a:rPr lang="en-IN" sz="1400" dirty="0"/>
              <a:t>  • </a:t>
            </a:r>
            <a:r>
              <a:rPr lang="en-IN" sz="1400" dirty="0" err="1"/>
              <a:t>EarlyStopping</a:t>
            </a:r>
            <a:r>
              <a:rPr lang="en-IN" sz="1400" dirty="0"/>
              <a:t> on </a:t>
            </a:r>
            <a:r>
              <a:rPr lang="en-IN" sz="1400" dirty="0" err="1"/>
              <a:t>val_AUC</a:t>
            </a:r>
            <a:r>
              <a:rPr lang="en-IN" sz="1400" dirty="0"/>
              <a:t> (patience 6)</a:t>
            </a:r>
          </a:p>
          <a:p>
            <a:pPr marL="0" indent="0">
              <a:buNone/>
            </a:pPr>
            <a:r>
              <a:rPr lang="en-IN" sz="1400" dirty="0"/>
              <a:t>  • </a:t>
            </a:r>
            <a:r>
              <a:rPr lang="en-IN" sz="1400" dirty="0" err="1"/>
              <a:t>ReduceLROnPlateau</a:t>
            </a:r>
            <a:r>
              <a:rPr lang="en-IN" sz="1400" dirty="0"/>
              <a:t> (factor 0.5, patience 3)</a:t>
            </a:r>
          </a:p>
          <a:p>
            <a:pPr marL="0" indent="0">
              <a:buNone/>
            </a:pPr>
            <a:r>
              <a:rPr lang="en-IN" sz="1400" dirty="0"/>
              <a:t>  • 80/20 stratified split</a:t>
            </a:r>
            <a:endParaRPr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— Fuzzy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1514"/>
            <a:ext cx="3446092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00" dirty="0"/>
              <a:t>Scenario Evaluation:</a:t>
            </a:r>
          </a:p>
          <a:p>
            <a:pPr marL="0" indent="0">
              <a:buNone/>
            </a:pPr>
            <a:r>
              <a:rPr lang="en-IN" sz="1000" dirty="0"/>
              <a:t>  Emergency (5m, 90km/h)  → Brake 86%, Risk 86%, Alert 89%</a:t>
            </a:r>
          </a:p>
          <a:p>
            <a:pPr marL="0" indent="0">
              <a:buNone/>
            </a:pPr>
            <a:r>
              <a:rPr lang="en-IN" sz="1000" dirty="0"/>
              <a:t>  Normal    (50m, 50km/h) → Brake 48%, Risk 52%, Alert 50%</a:t>
            </a:r>
          </a:p>
          <a:p>
            <a:pPr marL="0" indent="0">
              <a:buNone/>
            </a:pPr>
            <a:r>
              <a:rPr lang="en-IN" sz="1000" dirty="0"/>
              <a:t>  Safe      (95m, 10km/h) → Brake 12%, Risk 15%, Alert 12%</a:t>
            </a:r>
          </a:p>
          <a:p>
            <a:pPr marL="0" indent="0">
              <a:buNone/>
            </a:pPr>
            <a:r>
              <a:rPr lang="en-IN" sz="1000" dirty="0"/>
              <a:t>  Edge      (0m, 100km/h) → Physics fallback → all HIGH ✓</a:t>
            </a:r>
          </a:p>
          <a:p>
            <a:pPr marL="0" indent="0">
              <a:buNone/>
            </a:pPr>
            <a:endParaRPr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B3C597-C3F5-B75A-C407-ABE242339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531" y="1919566"/>
            <a:ext cx="4625269" cy="1526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481027-1B3D-99F1-3C29-F6F6DE80B2DD}"/>
              </a:ext>
            </a:extLst>
          </p:cNvPr>
          <p:cNvSpPr txBox="1"/>
          <p:nvPr/>
        </p:nvSpPr>
        <p:spPr>
          <a:xfrm>
            <a:off x="457200" y="4354748"/>
            <a:ext cx="3234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3D Surfaces:</a:t>
            </a:r>
          </a:p>
          <a:p>
            <a:r>
              <a:rPr lang="en-US" sz="1200" dirty="0"/>
              <a:t>  Smooth gradients, no dead zones</a:t>
            </a:r>
          </a:p>
          <a:p>
            <a:r>
              <a:rPr lang="en-US" sz="1200" dirty="0"/>
              <a:t>  Brake/Risk increase as distance↓ speed↑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C7327A-F266-5F1D-C745-5045BF8E9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531" y="3602401"/>
            <a:ext cx="4634863" cy="22429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443"/>
            <a:ext cx="8229600" cy="1143000"/>
          </a:xfrm>
        </p:spPr>
        <p:txBody>
          <a:bodyPr/>
          <a:lstStyle/>
          <a:p>
            <a:r>
              <a:rPr lang="en-IN" dirty="0"/>
              <a:t>Results — LSTM Performance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9692" y="3429000"/>
            <a:ext cx="3612307" cy="26620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 Test Accuracy: 99.3%    Test AUC: 1.000</a:t>
            </a:r>
          </a:p>
          <a:p>
            <a:pPr marL="0" indent="0">
              <a:buNone/>
            </a:pPr>
            <a:r>
              <a:rPr lang="en-IN" sz="1200" dirty="0"/>
              <a:t>  Confusion Matrix: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                             Predicted</a:t>
            </a:r>
          </a:p>
          <a:p>
            <a:pPr marL="0" indent="0">
              <a:buNone/>
            </a:pPr>
            <a:r>
              <a:rPr lang="en-IN" sz="1200" dirty="0"/>
              <a:t>                          Safe        Risky</a:t>
            </a:r>
          </a:p>
          <a:p>
            <a:pPr marL="0" indent="0">
              <a:buNone/>
            </a:pPr>
            <a:r>
              <a:rPr lang="en-IN" sz="1200" dirty="0"/>
              <a:t>  Actual Safe   323             4</a:t>
            </a:r>
          </a:p>
          <a:p>
            <a:pPr marL="0" indent="0">
              <a:buNone/>
            </a:pPr>
            <a:r>
              <a:rPr lang="en-IN" sz="1200" dirty="0"/>
              <a:t>              Risky    0             273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  • 0 false negatives — never misses a dangerous scenario</a:t>
            </a:r>
          </a:p>
          <a:p>
            <a:pPr marL="0" indent="0">
              <a:buNone/>
            </a:pPr>
            <a:r>
              <a:rPr lang="en-IN" sz="1200" dirty="0"/>
              <a:t>  • 4 false positives — conservative (over-warns) = safer</a:t>
            </a:r>
            <a:endParaRPr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67FF90-A262-3C9B-3BAD-FF6C5B3B8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774" y="1508443"/>
            <a:ext cx="6336451" cy="16905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776D73-6C19-27BA-72F8-A46083200CDB}"/>
              </a:ext>
            </a:extLst>
          </p:cNvPr>
          <p:cNvSpPr txBox="1"/>
          <p:nvPr/>
        </p:nvSpPr>
        <p:spPr>
          <a:xfrm>
            <a:off x="5189646" y="4344508"/>
            <a:ext cx="31125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Why 99%?</a:t>
            </a:r>
          </a:p>
          <a:p>
            <a:r>
              <a:rPr lang="en-US" sz="1200" dirty="0"/>
              <a:t>  Synthetic data has well-separated classes</a:t>
            </a:r>
          </a:p>
          <a:p>
            <a:r>
              <a:rPr lang="en-US" sz="1200" dirty="0"/>
              <a:t>  Real-world data would give ~80-90%</a:t>
            </a:r>
          </a:p>
          <a:p>
            <a:r>
              <a:rPr lang="en-US" sz="1200" dirty="0"/>
              <a:t>  This is acknowledged as a limitation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— Hybrid 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8637" y="4445950"/>
            <a:ext cx="3495230" cy="1501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100" dirty="0"/>
              <a:t>Adaptive Fusion:</a:t>
            </a:r>
          </a:p>
          <a:p>
            <a:pPr marL="0" indent="0">
              <a:buNone/>
            </a:pPr>
            <a:r>
              <a:rPr lang="en-IN" sz="1100" dirty="0"/>
              <a:t>  </a:t>
            </a:r>
            <a:r>
              <a:rPr lang="en-IN" sz="1100" dirty="0" err="1"/>
              <a:t>R_hybrid</a:t>
            </a:r>
            <a:r>
              <a:rPr lang="en-IN" sz="1100" dirty="0"/>
              <a:t> = </a:t>
            </a:r>
            <a:r>
              <a:rPr lang="en-IN" sz="1100" dirty="0" err="1"/>
              <a:t>w_fuzzy</a:t>
            </a:r>
            <a:r>
              <a:rPr lang="en-IN" sz="1100" dirty="0"/>
              <a:t> × </a:t>
            </a:r>
            <a:r>
              <a:rPr lang="en-IN" sz="1100" dirty="0" err="1"/>
              <a:t>R_fuzzy</a:t>
            </a:r>
            <a:r>
              <a:rPr lang="en-IN" sz="1100" dirty="0"/>
              <a:t> + </a:t>
            </a:r>
            <a:r>
              <a:rPr lang="en-IN" sz="1100" dirty="0" err="1"/>
              <a:t>w_lstm</a:t>
            </a:r>
            <a:r>
              <a:rPr lang="en-IN" sz="1100" dirty="0"/>
              <a:t> × (100 × P_LSTM)</a:t>
            </a:r>
          </a:p>
          <a:p>
            <a:pPr marL="0" indent="0">
              <a:buNone/>
            </a:pPr>
            <a:endParaRPr lang="en-IN" sz="1100" dirty="0"/>
          </a:p>
          <a:p>
            <a:pPr marL="0" indent="0">
              <a:buNone/>
            </a:pPr>
            <a:r>
              <a:rPr lang="en-IN" sz="1100" dirty="0"/>
              <a:t>  Distance &lt; 20m: 70% Fuzzy + 30% LSTM</a:t>
            </a:r>
          </a:p>
          <a:p>
            <a:pPr marL="0" indent="0">
              <a:buNone/>
            </a:pPr>
            <a:r>
              <a:rPr lang="en-IN" sz="1100" dirty="0"/>
              <a:t>    → Trust rules more at close range</a:t>
            </a:r>
          </a:p>
          <a:p>
            <a:pPr marL="0" indent="0">
              <a:buNone/>
            </a:pPr>
            <a:r>
              <a:rPr lang="en-IN" sz="1100" dirty="0"/>
              <a:t>  Distance ≥ 20m: 60% Fuzzy + 40% LSTM</a:t>
            </a:r>
          </a:p>
          <a:p>
            <a:pPr marL="0" indent="0">
              <a:buNone/>
            </a:pPr>
            <a:r>
              <a:rPr lang="en-IN" sz="1100" dirty="0"/>
              <a:t>    → LSTM temporal context valuable at distance</a:t>
            </a: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8DD749-290B-4F7A-473D-955A60259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394047"/>
            <a:ext cx="7086600" cy="30206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D54C93-B3B5-3A38-B255-4DC45B904710}"/>
              </a:ext>
            </a:extLst>
          </p:cNvPr>
          <p:cNvSpPr txBox="1"/>
          <p:nvPr/>
        </p:nvSpPr>
        <p:spPr>
          <a:xfrm>
            <a:off x="4723688" y="5072399"/>
            <a:ext cx="3277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200" dirty="0"/>
              <a:t> TTC Safety Override:</a:t>
            </a:r>
          </a:p>
          <a:p>
            <a:pPr marL="0" indent="0">
              <a:buNone/>
            </a:pPr>
            <a:r>
              <a:rPr lang="en-IN" sz="1200" dirty="0"/>
              <a:t>    If TTC &lt; 1.5s → hybrid risk ≥ 75% (forced HIGH)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— Interactive Dashboard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2234"/>
            <a:ext cx="3465320" cy="25135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dirty="0"/>
              <a:t>Web dashboard: adas_v3_blue.html</a:t>
            </a:r>
          </a:p>
          <a:p>
            <a:pPr marL="0" indent="0">
              <a:buNone/>
            </a:pPr>
            <a:r>
              <a:rPr lang="en-IN" sz="1200" dirty="0"/>
              <a:t>  Built with: HTML + </a:t>
            </a:r>
            <a:r>
              <a:rPr lang="en-IN" sz="1200" dirty="0" err="1"/>
              <a:t>React.js</a:t>
            </a:r>
            <a:r>
              <a:rPr lang="en-IN" sz="1200" dirty="0"/>
              <a:t> + </a:t>
            </a:r>
            <a:r>
              <a:rPr lang="en-IN" sz="1200" dirty="0" err="1"/>
              <a:t>Chart.js</a:t>
            </a:r>
            <a:endParaRPr lang="en-IN" sz="1200" dirty="0"/>
          </a:p>
          <a:p>
            <a:pPr marL="0" indent="0">
              <a:buNone/>
            </a:pPr>
            <a:r>
              <a:rPr lang="en-IN" sz="1200" dirty="0"/>
              <a:t>  Runs in browser — no server needed</a:t>
            </a:r>
          </a:p>
          <a:p>
            <a:pPr marL="0" indent="0">
              <a:buNone/>
            </a:pPr>
            <a:r>
              <a:rPr lang="en-IN" sz="1200" dirty="0"/>
              <a:t>  Fuzzy engine reimplemented in JavaScript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Three tabs:</a:t>
            </a:r>
          </a:p>
          <a:p>
            <a:pPr marL="0" indent="0">
              <a:buNone/>
            </a:pPr>
            <a:r>
              <a:rPr lang="en-IN" sz="1200" dirty="0"/>
              <a:t>  Dashboard: Sliders, live outputs, radar chart,</a:t>
            </a:r>
          </a:p>
          <a:p>
            <a:pPr marL="0" indent="0">
              <a:buNone/>
            </a:pPr>
            <a:r>
              <a:rPr lang="en-IN" sz="1200" dirty="0"/>
              <a:t>             rule firing table, prediction history</a:t>
            </a:r>
          </a:p>
          <a:p>
            <a:pPr marL="0" indent="0">
              <a:buNone/>
            </a:pPr>
            <a:r>
              <a:rPr lang="en-IN" sz="1200" dirty="0"/>
              <a:t>  Analysis:  Scenario comparison, inference heatmap</a:t>
            </a:r>
          </a:p>
          <a:p>
            <a:pPr marL="0" indent="0">
              <a:buNone/>
            </a:pPr>
            <a:r>
              <a:rPr lang="en-IN" sz="1200" dirty="0"/>
              <a:t>  About:     Architecture docs, full rule table</a:t>
            </a:r>
          </a:p>
          <a:p>
            <a:pPr marL="0" indent="0">
              <a:buNone/>
            </a:pPr>
            <a:endParaRPr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FD820F-6684-2EB5-A3D7-DFBD744BEF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33" y="1895251"/>
            <a:ext cx="4738667" cy="30674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175"/>
            <a:ext cx="8229600" cy="1143000"/>
          </a:xfrm>
        </p:spPr>
        <p:txBody>
          <a:bodyPr/>
          <a:lstStyle/>
          <a:p>
            <a:r>
              <a:rPr lang="en-IN" dirty="0"/>
              <a:t>Conclusion &amp; Future Work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605" y="1207510"/>
            <a:ext cx="3832789" cy="47360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300" dirty="0"/>
              <a:t>What We Built:</a:t>
            </a:r>
          </a:p>
          <a:p>
            <a:pPr marL="0" indent="0">
              <a:buNone/>
            </a:pPr>
            <a:r>
              <a:rPr lang="en-IN" sz="1300" dirty="0"/>
              <a:t>  ✓ 9-rule Mamdani FIS with trapezoidal boundary MFs</a:t>
            </a:r>
          </a:p>
          <a:p>
            <a:pPr marL="0" indent="0">
              <a:buNone/>
            </a:pPr>
            <a:r>
              <a:rPr lang="en-IN" sz="1300" dirty="0"/>
              <a:t>  ✓ LSTM trained on 3000 sequences (</a:t>
            </a:r>
            <a:r>
              <a:rPr lang="en-IN" sz="1300" dirty="0" err="1"/>
              <a:t>dist</a:t>
            </a:r>
            <a:r>
              <a:rPr lang="en-IN" sz="1300" dirty="0"/>
              <a:t>, speed, TTC)</a:t>
            </a:r>
          </a:p>
          <a:p>
            <a:pPr marL="0" indent="0">
              <a:buNone/>
            </a:pPr>
            <a:r>
              <a:rPr lang="en-IN" sz="1300" dirty="0"/>
              <a:t>  ✓ Adaptive hybrid fusion with TTC safety override</a:t>
            </a:r>
          </a:p>
          <a:p>
            <a:pPr marL="0" indent="0">
              <a:buNone/>
            </a:pPr>
            <a:r>
              <a:rPr lang="en-IN" sz="1300" dirty="0"/>
              <a:t>  ✓ Web dashboard for interactive testing</a:t>
            </a:r>
          </a:p>
          <a:p>
            <a:pPr marL="0" indent="0">
              <a:buNone/>
            </a:pPr>
            <a:endParaRPr lang="en-IN" sz="1300" dirty="0"/>
          </a:p>
          <a:p>
            <a:pPr marL="0" indent="0">
              <a:buNone/>
            </a:pPr>
            <a:r>
              <a:rPr lang="en-IN" sz="1300" dirty="0"/>
              <a:t>Limitations:</a:t>
            </a:r>
          </a:p>
          <a:p>
            <a:pPr marL="0" indent="0">
              <a:buNone/>
            </a:pPr>
            <a:r>
              <a:rPr lang="en-IN" sz="1300" dirty="0"/>
              <a:t>  • Synthetic data (not real-world driving logs)</a:t>
            </a:r>
          </a:p>
          <a:p>
            <a:pPr marL="0" indent="0">
              <a:buNone/>
            </a:pPr>
            <a:r>
              <a:rPr lang="en-IN" sz="1300" dirty="0"/>
              <a:t>  • 2 sensor inputs only + TTC derived</a:t>
            </a:r>
          </a:p>
          <a:p>
            <a:pPr marL="0" indent="0">
              <a:buNone/>
            </a:pPr>
            <a:r>
              <a:rPr lang="en-IN" sz="1300" dirty="0"/>
              <a:t>  • No hardware deployment</a:t>
            </a:r>
          </a:p>
          <a:p>
            <a:pPr marL="0" indent="0">
              <a:buNone/>
            </a:pPr>
            <a:endParaRPr lang="en-IN" sz="1300" dirty="0"/>
          </a:p>
          <a:p>
            <a:pPr marL="0" indent="0">
              <a:buNone/>
            </a:pPr>
            <a:r>
              <a:rPr lang="en-IN" sz="1300" dirty="0"/>
              <a:t>Future Work:</a:t>
            </a:r>
          </a:p>
          <a:p>
            <a:pPr marL="0" indent="0">
              <a:buNone/>
            </a:pPr>
            <a:r>
              <a:rPr lang="en-IN" sz="1300" dirty="0"/>
              <a:t>  → Real datasets (KITTI, </a:t>
            </a:r>
            <a:r>
              <a:rPr lang="en-IN" sz="1300" dirty="0" err="1"/>
              <a:t>nuScenes</a:t>
            </a:r>
            <a:r>
              <a:rPr lang="en-IN" sz="1300" dirty="0"/>
              <a:t>)</a:t>
            </a:r>
          </a:p>
          <a:p>
            <a:pPr marL="0" indent="0">
              <a:buNone/>
            </a:pPr>
            <a:r>
              <a:rPr lang="en-IN" sz="1300" dirty="0"/>
              <a:t>  → Multi-sensor fusion (radar, camera, LiDAR)</a:t>
            </a:r>
          </a:p>
          <a:p>
            <a:pPr marL="0" indent="0">
              <a:buNone/>
            </a:pPr>
            <a:r>
              <a:rPr lang="en-IN" sz="1300" dirty="0"/>
              <a:t>  → ANFIS for auto-tuning MF parameters</a:t>
            </a:r>
          </a:p>
          <a:p>
            <a:pPr marL="0" indent="0">
              <a:buNone/>
            </a:pPr>
            <a:r>
              <a:rPr lang="en-IN" sz="1300" dirty="0"/>
              <a:t>  → Edge deployment (NVIDIA Jetson)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IN" sz="1300" dirty="0"/>
              <a:t>Thank You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  <p:pic>
        <p:nvPicPr>
          <p:cNvPr id="6" name="Picture 5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371600" cy="458490"/>
          </a:xfrm>
          <a:prstGeom prst="rect">
            <a:avLst/>
          </a:prstGeom>
        </p:spPr>
      </p:pic>
      <p:pic>
        <p:nvPicPr>
          <p:cNvPr id="7" name="Picture 6" descr="9e412209-5f1d-4a3d-a369-f0701f4c12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0"/>
            <a:ext cx="1097280" cy="366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1287</Words>
  <Application>Microsoft Macintosh PowerPoint</Application>
  <PresentationFormat>On-screen Show (4:3)</PresentationFormat>
  <Paragraphs>201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Synapse Drive — ADAS Fuzzy Intelligence System A Hybrid Fuzzy-LSTM Approach for Real-Time  Collision Risk Assessment</vt:lpstr>
      <vt:lpstr>Abstract</vt:lpstr>
      <vt:lpstr>Introduction - Background &amp; Problem</vt:lpstr>
      <vt:lpstr>Objectives</vt:lpstr>
      <vt:lpstr>Literature Review — Key Foundations</vt:lpstr>
      <vt:lpstr>Literature Review — Related Work</vt:lpstr>
      <vt:lpstr>Methodology — System Architecture</vt:lpstr>
      <vt:lpstr>Methodology - Membership Functions</vt:lpstr>
      <vt:lpstr>Methodology — Rule Base</vt:lpstr>
      <vt:lpstr>Methodology — LSTM Network</vt:lpstr>
      <vt:lpstr>Results — Fuzzy Outputs</vt:lpstr>
      <vt:lpstr>Results — LSTM Performance</vt:lpstr>
      <vt:lpstr>Results — Hybrid Model</vt:lpstr>
      <vt:lpstr>Results — Interactive Dashboard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Report On [Project Title]</dc:title>
  <dc:subject/>
  <dc:creator/>
  <cp:keywords/>
  <dc:description>generated using python-pptx</dc:description>
  <cp:lastModifiedBy>Arnav  Shukla</cp:lastModifiedBy>
  <cp:revision>5</cp:revision>
  <dcterms:created xsi:type="dcterms:W3CDTF">2013-01-27T09:14:16Z</dcterms:created>
  <dcterms:modified xsi:type="dcterms:W3CDTF">2026-04-20T10:15:57Z</dcterms:modified>
  <cp:category/>
</cp:coreProperties>
</file>